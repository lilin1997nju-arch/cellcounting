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Cell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94A3B8"/>
                </a:solidFill>
              </a:defRPr>
            </a:pPr>
            <a:r>
              <a:t>单细胞识别模型  ·  识别机制说明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基于深度学习的96孔板显微图像自动分析系统</a:t>
            </a:r>
            <a:br/>
            <a:r>
              <a:t>区分活细胞与杂质碎片，支持多时间点追踪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整体流程概览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从原始图像到细胞识别结果的完整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16459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数据准备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08960"/>
            <a:ext cx="1828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08960"/>
            <a:ext cx="73152" cy="2194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审计硬件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构建索引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划分数据集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94560" y="2926080"/>
            <a:ext cx="1371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17520" y="164592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603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候选生成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108960"/>
            <a:ext cx="1828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3108960"/>
            <a:ext cx="73152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24612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多尺度峰值检测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孔壁感知分区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伪标签生成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60520" y="2926080"/>
            <a:ext cx="1371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83480" y="16459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5603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V1弱监督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108960"/>
            <a:ext cx="1828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10896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24612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TinyUNet训练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教学标注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多细胞分类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26480" y="2926080"/>
            <a:ext cx="1371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0" y="16459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5603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V2核心模型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108960"/>
            <a:ext cx="1828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10896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24612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SeededInstanceUNet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TemporalEvidenceNet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实例分割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092440" y="2926080"/>
            <a:ext cx="1371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15400" y="16459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03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时间推断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108960"/>
            <a:ext cx="1828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108960"/>
            <a:ext cx="73152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24612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掩膜合并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时间证据调整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孔级筛选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058400" y="2926080"/>
            <a:ext cx="1371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81360" y="16459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25603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审核与迭代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3108960"/>
            <a:ext cx="1828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95560" y="3108960"/>
            <a:ext cx="73152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324612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Web审核UI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人工修正</a:t>
            </a:r>
          </a:p>
          <a:p>
            <a:pPr>
              <a:spcAft>
                <a:spcPts val="400"/>
              </a:spcAft>
              <a:defRPr sz="1000" b="0">
                <a:solidFill>
                  <a:srgbClr val="1E293B"/>
                </a:solidFill>
              </a:defRPr>
            </a:pPr>
            <a:r>
              <a:t>模型再训练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核心设计理念：「弱监督 → 强监督」渐进式训练  ·  「空间分割 + 时间证据」联合推理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候选检测：高召回率峰值检测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dense_candidates.py — 确保不遗漏任何潜在细胞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算法步骤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01168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① 多尺度响应图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21992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fine(σ=1.2), background(σ=12), medium(σ=4)</a:t>
            </a:r>
            <a:br/>
            <a:r>
              <a:t>response = max(背景−细尺度, 0.7×|中−细|)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② 动态孔壁检测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90672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径向梯度剖面分析 → 找到壁内缘位置</a:t>
            </a:r>
            <a:br/>
            <a:r>
              <a:t>每张图独立计算, 适应拍摄偏移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4904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③ 三分区峰值筛选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59352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孔内(78%) + 壁缓冲(16%) + 壁救援(6%)</a:t>
            </a:r>
            <a:br/>
            <a:r>
              <a:t>百分位阈值 + 8×8网格覆盖 + 绝对响应底线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61772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④ 极坐标壁残差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28032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沿孔壁环形展开 → 切向平滑减除背景</a:t>
            </a:r>
            <a:br/>
            <a:r>
              <a:t>→ 恢复壁重叠的细胞 (突破性创新)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48640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⑤ 手动锚点注入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96712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人工审核标注的细胞位置强制保留</a:t>
            </a:r>
            <a:br/>
            <a:r>
              <a:t>CF分量去重 (cKDTree 距离门控)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三分区策略示意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1920240"/>
            <a:ext cx="4389120" cy="4389120"/>
          </a:xfrm>
          <a:prstGeom prst="ellipse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1" y="2240281"/>
            <a:ext cx="3749038" cy="3749038"/>
          </a:xfrm>
          <a:prstGeom prst="ellipse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95160" y="2331720"/>
            <a:ext cx="3566160" cy="3566160"/>
          </a:xfrm>
          <a:prstGeom prst="ellipse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23760" y="2560320"/>
            <a:ext cx="3108960" cy="3108960"/>
          </a:xfrm>
          <a:prstGeom prst="ellipse">
            <a:avLst/>
          </a:prstGeom>
          <a:solidFill>
            <a:srgbClr val="BFDB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5486400"/>
            <a:ext cx="5669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■  孔内区域 (78%) — 主细胞区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6692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■  壁缓冲区 (16%) — 贴壁细胞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6692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F4444"/>
                </a:solidFill>
              </a:defRPr>
            </a:pPr>
            <a:r>
              <a:t>■  壁救援区 (6%) — 壁重叠细胞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V2 核心模型：SeededInstanceUNet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种子条件化实例分割 — 解决相邻细胞分离难题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网络架构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输入层  (3通道 × 96×96)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通道1: 归一化原始图像 (2%-98%归一化)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86584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通道2: 高斯种子热图 (种子处=1.0, 指数衰减)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51176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通道3: 几何壁先验 (距壁距离的梯度)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5486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编码器  (4级下采样)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19272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Enc1: 16 ch → Enc2: 32 ch → Enc3: 64 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Enc4: 128 ch → Bottleneck: 256 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48456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每级: Conv-BN-SiLU ×2 + MaxPool(k=2)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5486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解码器  (4级上采样 + 跳连)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16552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ConvTranspose2d 逐步恢复到原尺寸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81144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Skip connection: 融合编码器对应层级特征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45736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Dec1: 16 ch → 最终输出层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5486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输出层  (3通道 × 96×96)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13832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通道1: 实例掩膜 — 当前选中物体的像素级分割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78424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通道2: 孔壁掩膜 — 标记哪些像素属于孔壁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43016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通道3: 物体存在概率 — 过滤假候选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"种子" 机制原理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196596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196596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201168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候选坐标 → 高斯热图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24028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每个潜在的细胞中心 (x,y) → 在它周围生成高斯热图</a:t>
            </a:r>
            <a:br/>
            <a:r>
              <a:t>热图在中心=1.0, 向外指数衰减, 告诉模型"关注这里"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06324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06324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10896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条件化分割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33756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3通道输入让模型学会:</a:t>
            </a:r>
            <a:br/>
            <a:r>
              <a:t>"请分割离这个高斯热图中心最近的物体"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16052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416052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420624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相邻细胞可分离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3484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两个紧挨的细胞 → 两个独立种子 → 两次独立分割</a:t>
            </a:r>
            <a:br/>
            <a:r>
              <a:t>不再需要语义分割级别的像素硬分类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525780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52578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530352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壁先验辅助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3212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第3通道告知模型孔壁在哪 → 避免把壁边缘当成细胞轮廓</a:t>
            </a:r>
            <a:br/>
            <a:r>
              <a:t>同时独立预测壁掩膜, 用于后续的壁拒绝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419088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关键创新：传统U-Net做语义分割 → 相邻细胞掩膜粘连  |  SeededInstanceUNet → 种子条件化, 每次只分割一个细胞 → 天然实例级输出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V2 时间证据网络：TemporalEvidenceNet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利用活细胞会移动/变化、碎片不动的生物学先验区分真假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核心原理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生物学前提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活细胞在培养过程中会移动、分裂、形态变化</a:t>
            </a:r>
            <a:br/>
            <a:r>
              <a:t>碎片/杂质/死细胞位置和形态几乎不变</a:t>
            </a:r>
            <a:br/>
            <a:r>
              <a:t>→ 对比同一位置 T0/T1/T2 的变化即可区分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三帧联合编码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每个时间点的 [原始图像 + 分割掩膜] 独立编码</a:t>
            </a:r>
            <a:br/>
            <a:r>
              <a:t>→ 3个96维嵌入向量 → 与数值特征拼接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数值特征 (15~24维)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8795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T0→T1, T1→T2, T0→T2 的位移向量 (6维)</a:t>
            </a:r>
            <a:br/>
            <a:r>
              <a:t>▸ 面积变化对数比 (2维)</a:t>
            </a:r>
            <a:br/>
            <a:r>
              <a:t>▸ 多重性编码 + 形态学概率 + 壁重叠 (7~16维)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双输出头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▸ same_object logit: 三帧是否是同一个物体</a:t>
            </a:r>
            <a:br/>
            <a:r>
              <a:t>▸ static_similarity logit: 物体有多静态 (越高越像碎片)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630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概率调整决策流程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199339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92024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9659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invalid prob ≥ 60%?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058400" y="2011680"/>
            <a:ext cx="3657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194767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不调整</a:t>
            </a:r>
            <a:br/>
            <a:r>
              <a:t>(非有效物体)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86207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278892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8346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same_object &lt; 阈值?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058400" y="2880360"/>
            <a:ext cx="3657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281635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不调整</a:t>
            </a:r>
            <a:br/>
            <a:r>
              <a:t>(非同一物体)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37307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65760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3703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static_similarity &lt; 阈值?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058400" y="3749040"/>
            <a:ext cx="3657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368503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不调整</a:t>
            </a:r>
            <a:br/>
            <a:r>
              <a:t>(物体有变化, 更像活细胞)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59943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52628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4572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细胞置信度 ≥ 90%?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58400" y="4617720"/>
            <a:ext cx="3657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0" y="455371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不调整</a:t>
            </a:r>
            <a:br/>
            <a:r>
              <a:t>(已经很确定)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5468112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539496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5440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所有条件满足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058400" y="5486400"/>
            <a:ext cx="36576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7040" y="542239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591D4"/>
                </a:solidFill>
              </a:defRPr>
            </a:pPr>
            <a:r>
              <a:t>计算 shift:</a:t>
            </a:r>
            <a:br/>
            <a:r>
              <a:t>碎片概率 ↑ 细胞概率 ↓</a:t>
            </a:r>
            <a:br/>
            <a:r>
              <a:t>(最多调整 0.30)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4864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额外规则：静态壁伪影检测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7607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三帧都存在 + same &gt; 阈值 + static &gt; 阈值</a:t>
            </a:r>
            <a:br/>
            <a:r>
              <a:t>+ 位移 &lt; 5px + 面积比 &lt; 2.2 + 壁重叠 &gt; 90%</a:t>
            </a:r>
            <a:br/>
            <a:r>
              <a:t>→ 标记为 "static_wall_artifact" → label = invalid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人机协同审核与迭代闭环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Human-in-the-loop — 从模型预测到人工确认的完整回路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Web 审核系统 (localhost:8765)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56DB"/>
                </a:solidFill>
              </a:defRPr>
            </a:pPr>
            <a:r>
              <a:t>📝 教学标注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93392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人工标注细胞/碎片/无效</a:t>
            </a:r>
            <a:br/>
            <a:r>
              <a:t>为教学分类器提供训练数据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0779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56DB"/>
                </a:solidFill>
              </a:defRPr>
            </a:pPr>
            <a:r>
              <a:t>🔍 自动审核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07792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审核模型自动标注结果</a:t>
            </a:r>
            <a:br/>
            <a:r>
              <a:t>批量修正错误分类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2219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56DB"/>
                </a:solidFill>
              </a:defRPr>
            </a:pPr>
            <a:r>
              <a:t>👥 双细胞教学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22192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专门标注接触双细胞</a:t>
            </a:r>
            <a:br/>
            <a:r>
              <a:t>训练 multiplicity 分类器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3659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56DB"/>
                </a:solidFill>
              </a:defRPr>
            </a:pPr>
            <a:r>
              <a:t>📊 集成审核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736592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V2模型输出快速审核仪表板</a:t>
            </a:r>
            <a:br/>
            <a:r>
              <a:t>一键确认/修正/跳过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784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5099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56DB"/>
                </a:solidFill>
              </a:defRPr>
            </a:pPr>
            <a:r>
              <a:t>🧪 孔级筛选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50992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孔级生长决策审核</a:t>
            </a:r>
            <a:br/>
            <a:r>
              <a:t>活跃/不活跃/模糊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迭代闭环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2148840"/>
            <a:ext cx="1188720" cy="64008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模型预测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32122" y="3286143"/>
            <a:ext cx="118872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审核修正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4207" y="5126337"/>
            <a:ext cx="118872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积累标注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9313" y="5126337"/>
            <a:ext cx="118872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触发训练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01398" y="3286143"/>
            <a:ext cx="1188720" cy="640080"/>
          </a:xfrm>
          <a:prstGeom prst="roundRect">
            <a:avLst/>
          </a:prstGeom>
          <a:solidFill>
            <a:srgbClr val="259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新模型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84048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迭代</a:t>
            </a:r>
            <a:br/>
            <a:r>
              <a:t>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864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▸ SQLite 数据库持久化所有审核结果</a:t>
            </a:r>
            <a:br/>
            <a:r>
              <a:t>▸ 触发条件: 新增标注累积 &gt; 96 或 手动触发</a:t>
            </a:r>
            <a:br/>
            <a:r>
              <a:t>▸ 增量微调: 加载已有权重, 在新标注上 fine-tune</a:t>
            </a:r>
            <a:br/>
            <a:r>
              <a:t>▸ 外部验证: A12-22 板冻结, 仅评估, 不参与训练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总结：Cell Vision 识别机制三大支柱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560320"/>
            <a:ext cx="3200400" cy="2926080"/>
          </a:xfrm>
          <a:prstGeom prst="roundRect">
            <a:avLst/>
          </a:prstGeom>
          <a:solidFill>
            <a:srgbClr val="26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1E293B"/>
                </a:solidFill>
              </a:defRPr>
            </a:pPr>
            <a:r>
              <a:t>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高召回候选检测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26517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多尺度响应 + 动态壁检测</a:t>
            </a:r>
            <a:br/>
            <a:r>
              <a:t>极坐标壁残差 + 三分区策略</a:t>
            </a:r>
            <a:br/>
            <a:r>
              <a:t>确保不遗漏任何潜在细胞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560320"/>
            <a:ext cx="3200400" cy="2926080"/>
          </a:xfrm>
          <a:prstGeom prst="roundRect">
            <a:avLst/>
          </a:prstGeom>
          <a:solidFill>
            <a:srgbClr val="26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27432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1E293B"/>
                </a:solidFill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9184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种子条件化实例分割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749039"/>
            <a:ext cx="26517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高斯种子热图 + 壁先验</a:t>
            </a:r>
            <a:br/>
            <a:r>
              <a:t>每个候选独立分割</a:t>
            </a:r>
            <a:br/>
            <a:r>
              <a:t>天然解决相邻细胞粘连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560320"/>
            <a:ext cx="3200400" cy="2926080"/>
          </a:xfrm>
          <a:prstGeom prst="roundRect">
            <a:avLst/>
          </a:prstGeom>
          <a:solidFill>
            <a:srgbClr val="26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1E293B"/>
                </a:solidFill>
              </a:defRPr>
            </a:pPr>
            <a: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29184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时间证据区分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49039"/>
            <a:ext cx="26517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T0/T1/T2 三帧联合学习</a:t>
            </a:r>
            <a:br/>
            <a:r>
              <a:t>活细胞会移动/碎片不变</a:t>
            </a:r>
            <a:br/>
            <a:r>
              <a:t>生物学先验驱动概率调整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